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E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6E6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54864" cy="685800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FFFFFF"/>
                </a:solidFill>
                <a:latin typeface="Calibri"/>
              </a:rPr>
              <a:t>GrantGenie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AI-assisted grant discovery and drafting for small nonprofits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AFAF7"/>
                </a:solidFill>
                <a:latin typeface="Calibri"/>
              </a:rPr>
              <a:t>v1.0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Small nonprofits lose funding to three predictable failure modes.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Each is solvable — and each compounds when not addressed.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6B5C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They don't know the grants exist.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 typical state has 800+ active RFPs at any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6B5C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01752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They spend 80% of proposal time on boilerplate.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20624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Re-typing the org's mission, programs, and metrics for every application.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19456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377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6B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1752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They submit unfocused proposals.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20624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Missed funder language, missed format, missed priorities.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Industry benchmarks: 60–80 h/quarter on discovery · 12–25 h per 10-page draft · 15–25% pass-through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The philanthropic sector is growing; staffing is not.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AI + SaaS is now mature enough to deploy safely for regulated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566160" cy="22860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$500B+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AFAF7"/>
                </a:solidFill>
                <a:latin typeface="Calibri"/>
              </a:rPr>
              <a:t>U.S. philanthropic disbursement per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566160" cy="22860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37744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+8–12%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AFAF7"/>
                </a:solidFill>
                <a:latin typeface="Calibri"/>
              </a:rPr>
              <a:t>RFP volume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2103120"/>
            <a:ext cx="3566160" cy="22860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237744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~10%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AFAF7"/>
                </a:solidFill>
                <a:latin typeface="Calibri"/>
              </a:rPr>
              <a:t>Share flowing to small/medium nonprofits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6B5C"/>
                </a:solidFill>
                <a:latin typeface="Calibri"/>
              </a:rPr>
              <a:t>●  </a:t>
            </a:r>
            <a:r>
              <a:rPr sz="1400">
                <a:solidFill>
                  <a:srgbClr val="0F172A"/>
                </a:solidFill>
                <a:latin typeface="Calibri"/>
              </a:rPr>
              <a:t>AI model quality, citation-grounded generation, and tenant-isolated SaaS are now mature enough for regulated work.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6B5C"/>
                </a:solidFill>
                <a:latin typeface="Calibri"/>
              </a:rPr>
              <a:t>●  </a:t>
            </a:r>
            <a:r>
              <a:rPr sz="1400">
                <a:solidFill>
                  <a:srgbClr val="0F172A"/>
                </a:solidFill>
                <a:latin typeface="Calibri"/>
              </a:rPr>
              <a:t>Cloud + OpenTelemetry + eval-gated LLMs are the new normal.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6B5C"/>
                </a:solidFill>
                <a:latin typeface="Calibri"/>
              </a:rPr>
              <a:t>●  </a:t>
            </a:r>
            <a:r>
              <a:rPr sz="1400">
                <a:solidFill>
                  <a:srgbClr val="0F172A"/>
                </a:solidFill>
                <a:latin typeface="Calibri"/>
              </a:rPr>
              <a:t>A new 'AI for good' SaaS category is opening 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Meet Maya — our primary user.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A grant writer at a small nonprofit.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548640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5C"/>
                </a:solidFill>
                <a:latin typeface="Calibri"/>
              </a:rPr>
              <a:t>Persona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9377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Grant writer at a small nonprofit
1–50 staff, $250k–$5M budget
10–30 active applications per year
30+ PDFs of institutional knowledge — no one reads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12064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5C"/>
                </a:solidFill>
                <a:latin typeface="Calibri"/>
              </a:rPr>
              <a:t>A week in Maya's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7432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3375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Tue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3375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Drafting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9319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9319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Review with 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262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Thu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526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Revisions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120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Fri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1206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Submit +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One platform. Five steps. Cited at every step.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7463" y="310896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7463" y="310896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13735" y="310896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13735" y="310896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90007" y="310896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90007" y="310896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6279" y="310896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6279" y="310896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42551" y="310896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42551" y="310896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Submit + Track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58287" y="3429000"/>
            <a:ext cx="164592" cy="274320"/>
          </a:xfrm>
          <a:prstGeom prst="rightArrow">
            <a:avLst/>
          </a:prstGeom>
          <a:solidFill>
            <a:srgbClr val="F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934559" y="3429000"/>
            <a:ext cx="164592" cy="274320"/>
          </a:xfrm>
          <a:prstGeom prst="rightArrow">
            <a:avLst/>
          </a:prstGeom>
          <a:solidFill>
            <a:srgbClr val="F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110831" y="3429000"/>
            <a:ext cx="164592" cy="274320"/>
          </a:xfrm>
          <a:prstGeom prst="rightArrow">
            <a:avLst/>
          </a:prstGeom>
          <a:solidFill>
            <a:srgbClr val="F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287103" y="3429000"/>
            <a:ext cx="164592" cy="274320"/>
          </a:xfrm>
          <a:prstGeom prst="rightArrow">
            <a:avLst/>
          </a:prstGeom>
          <a:solidFill>
            <a:srgbClr val="F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Calibri"/>
              </a:rPr>
              <a:t>Search only eligible grants. Get a full draft in 6 seconds with citations. Collaborate with reviewers. Track every deadline.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Behind the scenes — when you click 'Draft'.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6B5C"/>
                </a:solidFill>
                <a:latin typeface="Calibri"/>
              </a:rPr>
              <a:t>●  </a:t>
            </a:r>
            <a:r>
              <a:rPr sz="1600">
                <a:solidFill>
                  <a:srgbClr val="0F172A"/>
                </a:solidFill>
                <a:latin typeface="Calibri"/>
              </a:rPr>
              <a:t>Your org profile + boilerplate + selected grant → AI Service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6B5C"/>
                </a:solidFill>
                <a:latin typeface="Calibri"/>
              </a:rPr>
              <a:t>●  </a:t>
            </a:r>
            <a:r>
              <a:rPr sz="1600">
                <a:solidFill>
                  <a:srgbClr val="0F172A"/>
                </a:solidFill>
                <a:latin typeface="Calibri"/>
              </a:rPr>
              <a:t>Multi-model cost-aware router picks the cheapest adequate model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6B5C"/>
                </a:solidFill>
                <a:latin typeface="Calibri"/>
              </a:rPr>
              <a:t>●  </a:t>
            </a:r>
            <a:r>
              <a:rPr sz="1600">
                <a:solidFill>
                  <a:srgbClr val="0F172A"/>
                </a:solidFill>
                <a:latin typeface="Calibri"/>
              </a:rPr>
              <a:t>RAG retrieves your top-5 relevant chunks; reranks to top-3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6B5C"/>
                </a:solidFill>
                <a:latin typeface="Calibri"/>
              </a:rPr>
              <a:t>●  </a:t>
            </a:r>
            <a:r>
              <a:rPr sz="1600">
                <a:solidFill>
                  <a:srgbClr val="0F172A"/>
                </a:solidFill>
                <a:latin typeface="Calibri"/>
              </a:rPr>
              <a:t>LLM streams a 5-section draft with citations per claim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6B5C"/>
                </a:solidFill>
                <a:latin typeface="Calibri"/>
              </a:rPr>
              <a:t>●  </a:t>
            </a:r>
            <a:r>
              <a:rPr sz="1600">
                <a:solidFill>
                  <a:srgbClr val="0F172A"/>
                </a:solidFill>
                <a:latin typeface="Calibri"/>
              </a:rPr>
              <a:t>Eval gates (relevance ≥ 0.85, faithfulness ≥ 0.90) block low-quality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2194560"/>
            <a:ext cx="3840480" cy="82296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2194560"/>
            <a:ext cx="3840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User clicks Draft</a:t>
            </a:r>
          </a:p>
        </p:txBody>
      </p:sp>
      <p:sp>
        <p:nvSpPr>
          <p:cNvPr id="6" name="Down Arrow 5"/>
          <p:cNvSpPr/>
          <p:nvPr/>
        </p:nvSpPr>
        <p:spPr>
          <a:xfrm>
            <a:off x="9326880" y="3063240"/>
            <a:ext cx="365760" cy="365760"/>
          </a:xfrm>
          <a:prstGeom prst="downArrow">
            <a:avLst/>
          </a:prstGeom>
          <a:solidFill>
            <a:srgbClr val="F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0" y="3520440"/>
            <a:ext cx="3840480" cy="1097280"/>
          </a:xfrm>
          <a:prstGeom prst="roundRect">
            <a:avLst>
              <a:gd name="adj" fmla="val 12000"/>
            </a:avLst>
          </a:prstGeom>
          <a:solidFill>
            <a:srgbClr val="6E6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3611880"/>
            <a:ext cx="3657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 Service
(multi-model router + eval gates)</a:t>
            </a:r>
          </a:p>
        </p:txBody>
      </p:sp>
      <p:sp>
        <p:nvSpPr>
          <p:cNvPr id="9" name="Down Arrow 8"/>
          <p:cNvSpPr/>
          <p:nvPr/>
        </p:nvSpPr>
        <p:spPr>
          <a:xfrm>
            <a:off x="9326880" y="4663440"/>
            <a:ext cx="365760" cy="365760"/>
          </a:xfrm>
          <a:prstGeom prst="downArrow">
            <a:avLst/>
          </a:prstGeom>
          <a:solidFill>
            <a:srgbClr val="F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0" y="5074920"/>
            <a:ext cx="3840480" cy="914400"/>
          </a:xfrm>
          <a:prstGeom prst="roundRect">
            <a:avLst>
              <a:gd name="adj" fmla="val 12000"/>
            </a:avLst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5074920"/>
            <a:ext cx="3840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Drafted proposal
with citations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Built for the work that gets audited.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3566160" cy="91440"/>
          </a:xfrm>
          <a:prstGeom prst="rect">
            <a:avLst/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2EA0"/>
                </a:solidFill>
                <a:latin typeface="Calibri"/>
              </a:rPr>
              <a:t>Every claim cited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Hover any AI sentence → see source document, page, and chunk.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9456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2194560"/>
            <a:ext cx="3566160" cy="91440"/>
          </a:xfrm>
          <a:prstGeom prst="rect">
            <a:avLst/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2EA0"/>
                </a:solidFill>
                <a:latin typeface="Calibri"/>
              </a:rPr>
              <a:t>Eval-gated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8328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Relevance ≥ 0.85 and faithfulness ≥ 0.90 required to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19456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59" y="2194560"/>
            <a:ext cx="3566160" cy="91440"/>
          </a:xfrm>
          <a:prstGeom prst="rect">
            <a:avLst/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2EA0"/>
                </a:solidFill>
                <a:latin typeface="Calibri"/>
              </a:rPr>
              <a:t>Audit-ready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38328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Append-only audit log with before/after diff; triggers block any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Multi-tenant isolation at the database layer makes cross-tenant data leaks structurally impossible.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A working session in 60 seconds.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Three moments Maya sees every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59" y="2240280"/>
            <a:ext cx="3200400" cy="365760"/>
          </a:xfrm>
          <a:prstGeom prst="rect">
            <a:avLst/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GrantGenie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88920"/>
            <a:ext cx="3108960" cy="4572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3108960" cy="4572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069079"/>
            <a:ext cx="3108960" cy="4572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937760"/>
            <a:ext cx="1371600" cy="27432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Only eligible grants shown.
14 results in 3.2 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240280"/>
            <a:ext cx="3200400" cy="365760"/>
          </a:xfrm>
          <a:prstGeom prst="rect">
            <a:avLst/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240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GrantGenie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788920"/>
            <a:ext cx="3108960" cy="4572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3429000"/>
            <a:ext cx="3108960" cy="4572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4069079"/>
            <a:ext cx="3108960" cy="4572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4937760"/>
            <a:ext cx="1371600" cy="27432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55321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Drafting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9436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5-section draft, citations
inline, eval scores visible.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210312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39" y="2240280"/>
            <a:ext cx="3200400" cy="365760"/>
          </a:xfrm>
          <a:prstGeom prst="rect">
            <a:avLst/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240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GrantGenie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788920"/>
            <a:ext cx="3108960" cy="4572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3429000"/>
            <a:ext cx="3108960" cy="4572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4069079"/>
            <a:ext cx="3108960" cy="4572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4937760"/>
            <a:ext cx="1371600" cy="27432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55321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9436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Email + in-app reminders
at 14, 7, 1 days.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Our constitution.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Five principles. We violate none of them. We have a constitution.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6B5C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Spec-first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01168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Every requirement has an ID; every test references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6B5C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803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Clean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8803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Domain logic is framework-free, audited by automated 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6B5C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49039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Test-driven with AI eval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749039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AI outputs scored before they reach users.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6B5C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6177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Multi-tenant isolation by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61772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Database-level RLS.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6B5C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4864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Observability and cost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48640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Every request has a correlation ID; cheapest adequate model first.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Standard. Modern. Mature.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We are not inventing new technology; we are applying it carefully.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1168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PHP 8.3, Laravel 11 (Clean Architecture)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7744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Angular 18 (standalone, signals), NG-ZORRO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AI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4320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Python 3.12, FastAPI, Pydantic v2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6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0896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PostgreSQL 16 + pgvector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7472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Cache &amp; locks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47472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Redis 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Object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4048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S3-compatible (MinIO dev / Azure Blob prod)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20624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OIDC / OAuth2 (Auth0)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AI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57200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OpenAI, Anthropic, open models (cost-aware router)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93776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Container / orch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Docker + Kubernetes (AKS)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0352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IaC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30352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Terraform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66928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CI/CD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66928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GitHub Actions (lint, tests, SAST, SCA, secrets, eval gates)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0350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A0"/>
                </a:solidFill>
                <a:latin typeface="Calibri"/>
              </a:rPr>
              <a:t>Tracing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603504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OpenTelemetry → Jaeger / Azure Monitor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What we measure.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These are the four metrics our board will see every month.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651760" cy="22860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6B5C"/>
                </a:solidFill>
                <a:latin typeface="Calibri"/>
              </a:rPr>
              <a:t>SC-001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&lt; 5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6576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AFAF7"/>
                </a:solidFill>
                <a:latin typeface="Calibri"/>
              </a:rPr>
              <a:t>Discovery p95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03120"/>
            <a:ext cx="2651760" cy="22860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6B5C"/>
                </a:solidFill>
                <a:latin typeface="Calibri"/>
              </a:rPr>
              <a:t>SC-002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743200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&lt; 6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AFAF7"/>
                </a:solidFill>
                <a:latin typeface="Calibri"/>
              </a:rPr>
              <a:t>Draft p95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2651760" cy="22860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6B5C"/>
                </a:solidFill>
                <a:latin typeface="Calibri"/>
              </a:rPr>
              <a:t>SC-003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0.85 / 0.90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AFAF7"/>
                </a:solidFill>
                <a:latin typeface="Calibri"/>
              </a:rPr>
              <a:t>AI relevance / faithfulness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103120"/>
            <a:ext cx="2651760" cy="22860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2860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6B5C"/>
                </a:solidFill>
                <a:latin typeface="Calibri"/>
              </a:rPr>
              <a:t>SC-004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743200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99.9%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6576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AFAF7"/>
                </a:solidFill>
                <a:latin typeface="Calibri"/>
              </a:rPr>
              <a:t>API availability (reads)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SC-005 — 0 cross-tenant data leaks (under automated testing)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SC-007 — &lt; 10 min to set up a new tenant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AI costs are first-class.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356616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3566160" cy="91440"/>
          </a:xfrm>
          <a:prstGeom prst="rect">
            <a:avLst/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3D2EA0"/>
                </a:solidFill>
                <a:latin typeface="Calibri"/>
              </a:rP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Discovery + 5 boilerplate 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56616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566160" cy="91440"/>
          </a:xfrm>
          <a:prstGeom prst="rect">
            <a:avLst/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3774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3D2EA0"/>
                </a:solidFill>
                <a:latin typeface="Calibri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$99 / mo + AI pass-through
(most tenants)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103120"/>
            <a:ext cx="356616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59" y="2103120"/>
            <a:ext cx="3566160" cy="91440"/>
          </a:xfrm>
          <a:prstGeom prst="rect">
            <a:avLst/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3774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3D2EA0"/>
                </a:solidFill>
                <a:latin typeface="Calibri"/>
              </a:rPr>
              <a:t>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0896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$499 / mo + dedicated model tier
+ custom funder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EA0"/>
                </a:solidFill>
                <a:latin typeface="Calibri"/>
              </a:rPr>
              <a:t>Cost-control guarantees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6B5C"/>
                </a:solidFill>
                <a:latin typeface="Calibri"/>
              </a:rPr>
              <a:t>●  </a:t>
            </a:r>
            <a:r>
              <a:rPr sz="1400">
                <a:solidFill>
                  <a:srgbClr val="0F172A"/>
                </a:solidFill>
                <a:latin typeface="Calibri"/>
              </a:rPr>
              <a:t>Cost-aware router: cheapest adequate model first.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6B5C"/>
                </a:solidFill>
                <a:latin typeface="Calibri"/>
              </a:rPr>
              <a:t>●  </a:t>
            </a:r>
            <a:r>
              <a:rPr sz="1400">
                <a:solidFill>
                  <a:srgbClr val="0F172A"/>
                </a:solidFill>
                <a:latin typeface="Calibri"/>
              </a:rPr>
              <a:t>Per-tenant FinOps dashboard with cost ceilings and alerts.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6B5C"/>
                </a:solidFill>
                <a:latin typeface="Calibri"/>
              </a:rPr>
              <a:t>●  </a:t>
            </a:r>
            <a:r>
              <a:rPr sz="1400">
                <a:solidFill>
                  <a:srgbClr val="0F172A"/>
                </a:solidFill>
                <a:latin typeface="Calibri"/>
              </a:rPr>
              <a:t>GPU scale-to-zero when the AI service is idle.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6B5C"/>
                </a:solidFill>
                <a:latin typeface="Calibri"/>
              </a:rPr>
              <a:t>●  </a:t>
            </a:r>
            <a:r>
              <a:rPr sz="1400">
                <a:solidFill>
                  <a:srgbClr val="0F172A"/>
                </a:solidFill>
                <a:latin typeface="Calibri"/>
              </a:rPr>
              <a:t>Automatic model fallback on provider outage (no vendor lock-in).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Where we're going.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65176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2651760" cy="9144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6B5C"/>
                </a:solidFill>
                <a:latin typeface="Calibri"/>
              </a:rPr>
              <a:t>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D2EA0"/>
                </a:solidFill>
                <a:latin typeface="Calibri"/>
              </a:rPr>
              <a:t>Scaffold +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297680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Phase 1–2 complete
Phase 3 (US1 Discovery) in flight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03120"/>
            <a:ext cx="265176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2103120"/>
            <a:ext cx="2651760" cy="9144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2860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6B5C"/>
                </a:solidFill>
                <a:latin typeface="Calibri"/>
              </a:rPr>
              <a:t>Q4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74320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D2EA0"/>
                </a:solidFill>
                <a:latin typeface="Calibri"/>
              </a:rPr>
              <a:t>Org Profile + Library
Proposal Drafting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297680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Internal alpha
End-to-end P1 MVP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65176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2651760" cy="9144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6B5C"/>
                </a:solidFill>
                <a:latin typeface="Calibri"/>
              </a:rPr>
              <a:t>Q1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D2EA0"/>
                </a:solidFill>
                <a:latin typeface="Calibri"/>
              </a:rPr>
              <a:t>Budget Narrative
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Closed beta with 10 nonprofits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103120"/>
            <a:ext cx="265176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2103120"/>
            <a:ext cx="2651760" cy="9144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2860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6B5C"/>
                </a:solidFill>
                <a:latin typeface="Calibri"/>
              </a:rPr>
              <a:t>Q2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74320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D2EA0"/>
                </a:solidFill>
                <a:latin typeface="Calibri"/>
              </a:rPr>
              <a:t>Funder Tailoring
Reviewer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4297680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Public 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What we need from you.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73152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137160" cy="118872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79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2EA0"/>
                </a:solidFill>
                <a:latin typeface="Calibri"/>
              </a:rPr>
              <a:t>10 design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Closed beta Q1 2027
Your team, your RFPs, your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73152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474720"/>
            <a:ext cx="137160" cy="118872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79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2EA0"/>
                </a:solidFill>
                <a:latin typeface="Calibri"/>
              </a:rPr>
              <a:t>A reference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59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Introduce us to a foundation program officer or nonprofit 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73152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D2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846320"/>
            <a:ext cx="137160" cy="118872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2EA0"/>
                </a:solidFill>
                <a:latin typeface="Calibri"/>
              </a:rPr>
              <a:t>Co-marketing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59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Case study + a quote for the public launch (Q2 2027)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103120"/>
            <a:ext cx="3108960" cy="3657600"/>
          </a:xfrm>
          <a:prstGeom prst="roundRect">
            <a:avLst>
              <a:gd name="adj" fmla="val 12000"/>
            </a:avLst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377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B5C"/>
                </a:solidFill>
                <a:latin typeface="Calibri"/>
              </a:rP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834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[Your Name]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383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AFAF7"/>
                </a:solidFill>
                <a:latin typeface="Calibri"/>
              </a:rPr>
              <a:t>[Your Role]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931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AFAF7"/>
                </a:solidFill>
                <a:latin typeface="Calibri"/>
              </a:rPr>
              <a:t>[email@grantgenie.example]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480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AFAF7"/>
                </a:solidFill>
                <a:latin typeface="Calibri"/>
              </a:rPr>
              <a:t>[calendar link]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GrantGenie · v1.0 · July 2026          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E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6E6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Fund the missions that fund us 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AFAF7"/>
                </a:solidFill>
                <a:latin typeface="Calibri"/>
              </a:rPr>
              <a:t>GrantGenie turns weeks of proposal work into hours — with citations your board can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B5C"/>
                </a:solidFill>
                <a:latin typeface="Calibri"/>
              </a:rPr>
              <a:t>Thank you.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